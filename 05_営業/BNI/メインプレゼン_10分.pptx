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みなさん、こんにちは。鈴木です。</a:t>
            </a:r>
          </a:p>
          <a:p>
            <a:r>
              <a:t>まず最初に、自己紹介がてら正直に申し上げます。</a:t>
            </a:r>
          </a:p>
          <a:p>
            <a:r>
              <a:t>身長185cm、体重105kgです。（間）</a:t>
            </a:r>
          </a:p>
          <a:p>
            <a:r>
              <a:t>……目標は95kgです。ダイエット中です。</a:t>
            </a:r>
          </a:p>
          <a:p>
            <a:r>
              <a:t>1ヶ月前から「お尻工場」という、新宿にあるクロスフィットジムに通い始めまして、ケトジェニックダイエットも同時進行中です。</a:t>
            </a:r>
          </a:p>
          <a:p>
            <a:r>
              <a:t>この大きな体で10分間お付き合いいただけると幸いです。よろしくお願いします！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高専と大学で情報工学と人工知能工学を勉強していたんですが、ある日ふと思いまして。「……勉強、飽きたな」と。（間）</a:t>
            </a:r>
          </a:p>
          <a:p>
            <a:r>
              <a:t>それで陸上自衛隊に入隊しました。（間）　理由はそれだけです。</a:t>
            </a:r>
          </a:p>
          <a:p>
            <a:r>
              <a:t>兵庫県の伊丹で、無線基地の建設と小隊長を4年やりました。</a:t>
            </a:r>
          </a:p>
          <a:p/>
          <a:p>
            <a:r>
              <a:t>で、今度は「ものをつくりたい」という気持ちが出てきて、東京のWEB専門学校に入学しました。</a:t>
            </a:r>
          </a:p>
          <a:p>
            <a:r>
              <a:t>半年、勉強しながら就職活動をしていたら、リクルートに技術提供している会社のリーダーに気に入っていただきまして。</a:t>
            </a:r>
          </a:p>
          <a:p>
            <a:r>
              <a:t>そのままフリーランスとしてリクルートに入り、リクナビとリクナビNEXTの開発グループで5年ほど働きました。</a:t>
            </a:r>
          </a:p>
          <a:p/>
          <a:p>
            <a:r>
              <a:t>……なかなか面白い経歴でしょう？（笑）</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私が今まさにECを担当しているブランドが、「ワンジー」です。</a:t>
            </a:r>
          </a:p>
          <a:p/>
          <a:p>
            <a:r>
              <a:t>日本にはユニフォームという独自の文化があります。「誰が着ても美しく見える」「機能と美を両立させる」——ワンジーは、そのユニフォームの哲学を日常のファッションにそのまま落とし込んだブランドです。</a:t>
            </a:r>
          </a:p>
          <a:p/>
          <a:p>
            <a:r>
              <a:t>1着で何通りもの着こなしができて、どんな体型の方にもフィットする。サイズを気にしなくていい服というのは、実は世界中の人が求めているものだと思います。</a:t>
            </a:r>
          </a:p>
          <a:p/>
          <a:p>
            <a:r>
              <a:t>このブランドのECを担当し、日本の"着る哲学"を世界に届けるのが、今の私のミッションです。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だけをやっているように思われることが多いのですが、実はもう少し幅広くやっています。プロジェクトマネジメント、プロダクト開発、販売コミュニティの開発まで。ECを入口に、事業全体を動かす仕組みをつくるのが私のスタイル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音をお話しすると——日本には、本当に素晴らしい商品やサービスを持っている方がたくさんいます。でも、その多くが「売る仕組み」を持っていないだけで、世の中に届いていない。私はそれが、もったいないと思っています。</a:t>
            </a:r>
          </a:p>
          <a:p/>
          <a:p>
            <a:r>
              <a:t>"売れない"のは、商品が悪いからじゃない。届け方の問題なんです。</a:t>
            </a:r>
          </a:p>
          <a:p/>
          <a:p>
            <a:r>
              <a:t>私がやりたいのは、そういう方々の力になること。良いものが、ちゃんと必要な人に届く。それを仕組みとしてつくるのが、私のビジネスに対する一番の動機です。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ここで、BNIメンバーの皆さんに一つ提案させてください。</a:t>
            </a:r>
          </a:p>
          <a:p/>
          <a:p>
            <a:r>
              <a:t>ビジネスがうまくいき始めて、「そろそろ2店舗目を」「もっと単価を上げたい」と考えている方、いらっしゃいますか？</a:t>
            </a:r>
          </a:p>
          <a:p/>
          <a:p>
            <a:r>
              <a:t>実店舗を増やすとなると、保証金と内装だけで数百万円。それが当たり前になっていませんか。ネットショップなら、その初期費用がほぼゼロです。しかも24時間365日、エリアを問わず全世界に向けて開いている。アップセル商品をオンラインで展開すれば、既存のお客様にも新しい顧客にも同時にアプローチできます。</a:t>
            </a:r>
          </a:p>
          <a:p/>
          <a:p>
            <a:r>
              <a:t>メリットは他にもたくさんありますが、まずこの3つだけでも、選択肢として考えてみてほしいんです。次の一手を打つ前に、一度私に話を聞かせてください。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今日お願いしたいことが2つあります。</a:t>
            </a:r>
          </a:p>
          <a:p/>
          <a:p>
            <a:r>
              <a:t>まず、お客様のご紹介です。ビジネスが好調で「次の一手」を考えている経営者の方——2店舗目を検討している方、既存客へのアップセルを考えている方——そういう方がいたら、ぜひ紹介してください。</a:t>
            </a:r>
          </a:p>
          <a:p/>
          <a:p>
            <a:r>
              <a:t>そしてもう一つ。今日つながりたい方がいます。印刷・プリントのお仕事をされている宮原さん、そしてグラフィックデザイナーの方。ECサイトをつくる上で一緒に仕事をしたい方々です。心当たりがある方は、ぜひ声をかけ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以上が私のプレゼンです。ありがとうございました。</a:t>
            </a:r>
          </a:p>
          <a:p/>
          <a:p>
            <a:r>
              <a:t>2店舗目を出す前にECという選択肢を考えてみたい方、アップセルをオンラインで展開したい方、ぜひ1to1でお話しさせてください。「話を聞くだけ」でも大歓迎です。よろしくお願いいたします！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645920"/>
            <a:ext cx="10058400" cy="914400"/>
          </a:xfrm>
          <a:prstGeom prst="rect">
            <a:avLst/>
          </a:prstGeom>
          <a:noFill/>
        </p:spPr>
        <p:txBody>
          <a:bodyPr wrap="square">
            <a:spAutoFit/>
          </a:bodyPr>
          <a:lstStyle/>
          <a:p>
            <a:pPr algn="ctr"/>
            <a:r>
              <a:rPr sz="4000" b="1" i="0">
                <a:solidFill>
                  <a:srgbClr val="FFFFFF"/>
                </a:solidFill>
              </a:rPr>
              <a:t>日本の“いいもの”を</a:t>
            </a:r>
          </a:p>
        </p:txBody>
      </p:sp>
      <p:sp>
        <p:nvSpPr>
          <p:cNvPr id="3" name="TextBox 2"/>
          <p:cNvSpPr txBox="1"/>
          <p:nvPr/>
        </p:nvSpPr>
        <p:spPr>
          <a:xfrm>
            <a:off x="914400" y="2560320"/>
            <a:ext cx="10058400" cy="914400"/>
          </a:xfrm>
          <a:prstGeom prst="rect">
            <a:avLst/>
          </a:prstGeom>
          <a:noFill/>
        </p:spPr>
        <p:txBody>
          <a:bodyPr wrap="square">
            <a:spAutoFit/>
          </a:bodyPr>
          <a:lstStyle/>
          <a:p>
            <a:pPr algn="ctr"/>
            <a:r>
              <a:rPr sz="4800" b="1" i="0">
                <a:solidFill>
                  <a:srgbClr val="7BC8FF"/>
                </a:solidFill>
              </a:rPr>
              <a:t>ECショップで</a:t>
            </a:r>
          </a:p>
        </p:txBody>
      </p:sp>
      <p:sp>
        <p:nvSpPr>
          <p:cNvPr id="4" name="TextBox 3"/>
          <p:cNvSpPr txBox="1"/>
          <p:nvPr/>
        </p:nvSpPr>
        <p:spPr>
          <a:xfrm>
            <a:off x="914400" y="3474720"/>
            <a:ext cx="10058400" cy="914400"/>
          </a:xfrm>
          <a:prstGeom prst="rect">
            <a:avLst/>
          </a:prstGeom>
          <a:noFill/>
        </p:spPr>
        <p:txBody>
          <a:bodyPr wrap="square">
            <a:spAutoFit/>
          </a:bodyPr>
          <a:lstStyle/>
          <a:p>
            <a:pPr algn="ctr"/>
            <a:r>
              <a:rPr sz="4000" b="1" i="0">
                <a:solidFill>
                  <a:srgbClr val="FFFFFF"/>
                </a:solidFill>
              </a:rPr>
              <a:t>24時間、365日、全世界へ</a:t>
            </a:r>
          </a:p>
        </p:txBody>
      </p:sp>
      <p:sp>
        <p:nvSpPr>
          <p:cNvPr id="5" name="TextBox 4"/>
          <p:cNvSpPr txBox="1"/>
          <p:nvPr/>
        </p:nvSpPr>
        <p:spPr>
          <a:xfrm>
            <a:off x="9601200" y="5943600"/>
            <a:ext cx="2286000" cy="548640"/>
          </a:xfrm>
          <a:prstGeom prst="rect">
            <a:avLst/>
          </a:prstGeom>
          <a:noFill/>
        </p:spPr>
        <p:txBody>
          <a:bodyPr wrap="square">
            <a:spAutoFit/>
          </a:bodyPr>
          <a:lstStyle/>
          <a:p>
            <a:pPr algn="r"/>
            <a:r>
              <a:rPr sz="2000" b="0" i="0">
                <a:solidFill>
                  <a:srgbClr val="555555"/>
                </a:solidFill>
              </a:rPr>
              <a:t>鈴木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自己紹介①　── まずは笑いを取る</a:t>
            </a:r>
          </a:p>
        </p:txBody>
      </p:sp>
      <p:sp>
        <p:nvSpPr>
          <p:cNvPr id="4" name="TextBox 3"/>
          <p:cNvSpPr txBox="1"/>
          <p:nvPr/>
        </p:nvSpPr>
        <p:spPr>
          <a:xfrm>
            <a:off x="731520" y="1371600"/>
            <a:ext cx="10515600" cy="5029200"/>
          </a:xfrm>
          <a:prstGeom prst="rect">
            <a:avLst/>
          </a:prstGeom>
          <a:noFill/>
        </p:spPr>
        <p:txBody>
          <a:bodyPr wrap="square">
            <a:spAutoFit/>
          </a:bodyPr>
          <a:lstStyle/>
          <a:p>
            <a:pPr>
              <a:spcBef>
                <a:spcPts val="600"/>
              </a:spcBef>
            </a:pPr>
            <a:r>
              <a:rPr sz="2200">
                <a:solidFill>
                  <a:srgbClr val="1A1A2E"/>
                </a:solidFill>
              </a:rPr>
              <a:t>鈴木（ひさこん）</a:t>
            </a:r>
          </a:p>
          <a:p>
            <a:pPr>
              <a:spcBef>
                <a:spcPts val="600"/>
              </a:spcBef>
            </a:pPr>
            <a:r>
              <a:rPr sz="2200">
                <a:solidFill>
                  <a:srgbClr val="1A1A2E"/>
                </a:solidFill>
              </a:rPr>
              <a:t/>
            </a:r>
          </a:p>
          <a:p>
            <a:pPr>
              <a:spcBef>
                <a:spcPts val="600"/>
              </a:spcBef>
            </a:pPr>
            <a:r>
              <a:rPr sz="2200">
                <a:solidFill>
                  <a:srgbClr val="1A1A2E"/>
                </a:solidFill>
              </a:rPr>
              <a:t>身長　185 cm</a:t>
            </a:r>
          </a:p>
          <a:p>
            <a:pPr>
              <a:spcBef>
                <a:spcPts val="600"/>
              </a:spcBef>
            </a:pPr>
            <a:r>
              <a:rPr sz="2200">
                <a:solidFill>
                  <a:srgbClr val="1A1A2E"/>
                </a:solidFill>
              </a:rPr>
              <a:t>体重　105 kg　→　目標 95 kg（ダイエット中）</a:t>
            </a:r>
          </a:p>
          <a:p>
            <a:pPr>
              <a:spcBef>
                <a:spcPts val="600"/>
              </a:spcBef>
            </a:pPr>
            <a:r>
              <a:rPr sz="2200">
                <a:solidFill>
                  <a:srgbClr val="1A1A2E"/>
                </a:solidFill>
              </a:rPr>
              <a:t/>
            </a:r>
          </a:p>
          <a:p>
            <a:pPr>
              <a:spcBef>
                <a:spcPts val="600"/>
              </a:spcBef>
            </a:pPr>
            <a:r>
              <a:rPr sz="2200">
                <a:solidFill>
                  <a:srgbClr val="1A1A2E"/>
                </a:solidFill>
              </a:rPr>
              <a:t>1ヶ月前から「お尻工場（新宿クロスフィット）」に通い始めました</a:t>
            </a:r>
          </a:p>
          <a:p>
            <a:pPr>
              <a:spcBef>
                <a:spcPts val="600"/>
              </a:spcBef>
            </a:pPr>
            <a:r>
              <a:rPr sz="2200">
                <a:solidFill>
                  <a:srgbClr val="1A1A2E"/>
                </a:solidFill>
              </a:rPr>
              <a:t>ケトジェニックダイエット実施中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自己紹介②　── 経歴、なかなか面白いんです</a:t>
            </a:r>
          </a:p>
        </p:txBody>
      </p:sp>
      <p:sp>
        <p:nvSpPr>
          <p:cNvPr id="4" name="TextBox 3"/>
          <p:cNvSpPr txBox="1"/>
          <p:nvPr/>
        </p:nvSpPr>
        <p:spPr>
          <a:xfrm>
            <a:off x="731520" y="1371600"/>
            <a:ext cx="10515600" cy="5029200"/>
          </a:xfrm>
          <a:prstGeom prst="rect">
            <a:avLst/>
          </a:prstGeom>
          <a:noFill/>
        </p:spPr>
        <p:txBody>
          <a:bodyPr wrap="square">
            <a:spAutoFit/>
          </a:bodyPr>
          <a:lstStyle/>
          <a:p>
            <a:pPr>
              <a:spcBef>
                <a:spcPts val="600"/>
              </a:spcBef>
            </a:pPr>
            <a:r>
              <a:rPr sz="2200">
                <a:solidFill>
                  <a:srgbClr val="1A1A2E"/>
                </a:solidFill>
              </a:rPr>
              <a:t>🎓 高専・大学（情報工学 / AI工学）</a:t>
            </a:r>
          </a:p>
          <a:p>
            <a:pPr>
              <a:spcBef>
                <a:spcPts val="600"/>
              </a:spcBef>
            </a:pPr>
            <a:r>
              <a:rPr sz="2200">
                <a:solidFill>
                  <a:srgbClr val="1A1A2E"/>
                </a:solidFill>
              </a:rPr>
              <a:t>　　↓　勉強に飽きて……</a:t>
            </a:r>
          </a:p>
          <a:p>
            <a:pPr>
              <a:spcBef>
                <a:spcPts val="600"/>
              </a:spcBef>
            </a:pPr>
            <a:r>
              <a:rPr sz="2200">
                <a:solidFill>
                  <a:srgbClr val="1A1A2E"/>
                </a:solidFill>
              </a:rPr>
              <a:t>🪖 陸上自衛隊（伊丹・無線基地建設・小隊長　4年）</a:t>
            </a:r>
          </a:p>
          <a:p>
            <a:pPr>
              <a:spcBef>
                <a:spcPts val="600"/>
              </a:spcBef>
            </a:pPr>
            <a:r>
              <a:rPr sz="2200">
                <a:solidFill>
                  <a:srgbClr val="1A1A2E"/>
                </a:solidFill>
              </a:rPr>
              <a:t>　　↓　ものをつくりたい</a:t>
            </a:r>
          </a:p>
          <a:p>
            <a:pPr>
              <a:spcBef>
                <a:spcPts val="600"/>
              </a:spcBef>
            </a:pPr>
            <a:r>
              <a:rPr sz="2200">
                <a:solidFill>
                  <a:srgbClr val="1A1A2E"/>
                </a:solidFill>
              </a:rPr>
              <a:t>💻 WEB専門学校（東京・半年猛勉強）</a:t>
            </a:r>
          </a:p>
          <a:p>
            <a:pPr>
              <a:spcBef>
                <a:spcPts val="600"/>
              </a:spcBef>
            </a:pPr>
            <a:r>
              <a:rPr sz="2200">
                <a:solidFill>
                  <a:srgbClr val="1A1A2E"/>
                </a:solidFill>
              </a:rPr>
              <a:t>　　↓　リクルートに技術提供する会社のリーダーに気に入られ</a:t>
            </a:r>
          </a:p>
          <a:p>
            <a:pPr>
              <a:spcBef>
                <a:spcPts val="600"/>
              </a:spcBef>
            </a:pPr>
            <a:r>
              <a:rPr sz="2200">
                <a:solidFill>
                  <a:srgbClr val="1A1A2E"/>
                </a:solidFill>
              </a:rPr>
              <a:t>🚀 フリーランス → リクナビ / リクナビNEXT 開発グループ（5年）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直近の仕事 ── WANISE（ワンジー）</a:t>
            </a:r>
          </a:p>
        </p:txBody>
      </p:sp>
      <p:sp>
        <p:nvSpPr>
          <p:cNvPr id="4" name="TextBox 3"/>
          <p:cNvSpPr txBox="1"/>
          <p:nvPr/>
        </p:nvSpPr>
        <p:spPr>
          <a:xfrm>
            <a:off x="731520" y="1371600"/>
            <a:ext cx="10515600" cy="5029200"/>
          </a:xfrm>
          <a:prstGeom prst="rect">
            <a:avLst/>
          </a:prstGeom>
          <a:noFill/>
        </p:spPr>
        <p:txBody>
          <a:bodyPr wrap="square">
            <a:spAutoFit/>
          </a:bodyPr>
          <a:lstStyle/>
          <a:p>
            <a:pPr>
              <a:spcBef>
                <a:spcPts val="600"/>
              </a:spcBef>
            </a:pPr>
            <a:r>
              <a:rPr sz="2200">
                <a:solidFill>
                  <a:srgbClr val="1A1A2E"/>
                </a:solidFill>
              </a:rPr>
              <a:t>「1着で、誰でも美しく。日本の"着る哲学"を、世界へ。」</a:t>
            </a:r>
          </a:p>
          <a:p>
            <a:pPr>
              <a:spcBef>
                <a:spcPts val="600"/>
              </a:spcBef>
            </a:pPr>
            <a:r>
              <a:rPr sz="2200">
                <a:solidFill>
                  <a:srgbClr val="1A1A2E"/>
                </a:solidFill>
              </a:rPr>
              <a:t/>
            </a:r>
          </a:p>
          <a:p>
            <a:pPr>
              <a:spcBef>
                <a:spcPts val="600"/>
              </a:spcBef>
            </a:pPr>
            <a:r>
              <a:rPr sz="2200">
                <a:solidFill>
                  <a:srgbClr val="1A1A2E"/>
                </a:solidFill>
              </a:rPr>
              <a:t>・日本のユニフォームが持つ「誰が着ても美しく見える」哲学を日常服に応用</a:t>
            </a:r>
          </a:p>
          <a:p>
            <a:pPr>
              <a:spcBef>
                <a:spcPts val="600"/>
              </a:spcBef>
            </a:pPr>
            <a:r>
              <a:rPr sz="2200">
                <a:solidFill>
                  <a:srgbClr val="1A1A2E"/>
                </a:solidFill>
              </a:rPr>
              <a:t>・1着で複数の着こなしが可能</a:t>
            </a:r>
          </a:p>
          <a:p>
            <a:pPr>
              <a:spcBef>
                <a:spcPts val="600"/>
              </a:spcBef>
            </a:pPr>
            <a:r>
              <a:rPr sz="2200">
                <a:solidFill>
                  <a:srgbClr val="1A1A2E"/>
                </a:solidFill>
              </a:rPr>
              <a:t>・サイズ・体型を問わず美しく着られる設計</a:t>
            </a:r>
          </a:p>
          <a:p>
            <a:pPr>
              <a:spcBef>
                <a:spcPts val="600"/>
              </a:spcBef>
            </a:pPr>
            <a:r>
              <a:rPr sz="2200">
                <a:solidFill>
                  <a:srgbClr val="1A1A2E"/>
                </a:solidFill>
              </a:rPr>
              <a:t/>
            </a:r>
          </a:p>
          <a:p>
            <a:pPr>
              <a:spcBef>
                <a:spcPts val="600"/>
              </a:spcBef>
            </a:pPr>
            <a:r>
              <a:rPr sz="2200">
                <a:solidFill>
                  <a:srgbClr val="1A1A2E"/>
                </a:solidFill>
              </a:rPr>
              <a:t>▶ 私はこのブランドのECを担当しています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自己紹介③　── 私がやっていること</a:t>
            </a:r>
          </a:p>
        </p:txBody>
      </p:sp>
      <p:sp>
        <p:nvSpPr>
          <p:cNvPr id="4" name="TextBox 3"/>
          <p:cNvSpPr txBox="1"/>
          <p:nvPr/>
        </p:nvSpPr>
        <p:spPr>
          <a:xfrm>
            <a:off x="731520" y="1371600"/>
            <a:ext cx="10515600" cy="5029200"/>
          </a:xfrm>
          <a:prstGeom prst="rect">
            <a:avLst/>
          </a:prstGeom>
          <a:noFill/>
        </p:spPr>
        <p:txBody>
          <a:bodyPr wrap="square">
            <a:spAutoFit/>
          </a:bodyPr>
          <a:lstStyle/>
          <a:p>
            <a:pPr>
              <a:spcBef>
                <a:spcPts val="600"/>
              </a:spcBef>
            </a:pPr>
            <a:r>
              <a:rPr sz="2200">
                <a:solidFill>
                  <a:srgbClr val="1A1A2E"/>
                </a:solidFill>
              </a:rPr>
              <a:t>ECショップ構築 / 運用</a:t>
            </a:r>
          </a:p>
          <a:p>
            <a:pPr>
              <a:spcBef>
                <a:spcPts val="600"/>
              </a:spcBef>
            </a:pPr>
            <a:r>
              <a:rPr sz="2200">
                <a:solidFill>
                  <a:srgbClr val="1A1A2E"/>
                </a:solidFill>
              </a:rPr>
              <a:t>プロジェクトマネジメント</a:t>
            </a:r>
          </a:p>
          <a:p>
            <a:pPr>
              <a:spcBef>
                <a:spcPts val="600"/>
              </a:spcBef>
            </a:pPr>
            <a:r>
              <a:rPr sz="2200">
                <a:solidFill>
                  <a:srgbClr val="1A1A2E"/>
                </a:solidFill>
              </a:rPr>
              <a:t>プロダクト開発</a:t>
            </a:r>
          </a:p>
          <a:p>
            <a:pPr>
              <a:spcBef>
                <a:spcPts val="600"/>
              </a:spcBef>
            </a:pPr>
            <a:r>
              <a:rPr sz="2200">
                <a:solidFill>
                  <a:srgbClr val="1A1A2E"/>
                </a:solidFill>
              </a:rPr>
              <a:t>販売コミュニティ開発</a:t>
            </a:r>
          </a:p>
          <a:p>
            <a:pPr>
              <a:spcBef>
                <a:spcPts val="600"/>
              </a:spcBef>
            </a:pPr>
            <a:r>
              <a:rPr sz="2200">
                <a:solidFill>
                  <a:srgbClr val="1A1A2E"/>
                </a:solidFill>
              </a:rPr>
              <a:t/>
            </a:r>
          </a:p>
          <a:p>
            <a:pPr>
              <a:spcBef>
                <a:spcPts val="600"/>
              </a:spcBef>
            </a:pPr>
            <a:r>
              <a:rPr sz="2200">
                <a:solidFill>
                  <a:srgbClr val="1A1A2E"/>
                </a:solidFill>
              </a:rPr>
              <a:t>▶ 「ECだけじゃない。事業を動かす仕組みを、まるごとつくります。」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ビジネスをどう考えているか</a:t>
            </a:r>
          </a:p>
        </p:txBody>
      </p:sp>
      <p:sp>
        <p:nvSpPr>
          <p:cNvPr id="4" name="TextBox 3"/>
          <p:cNvSpPr txBox="1"/>
          <p:nvPr/>
        </p:nvSpPr>
        <p:spPr>
          <a:xfrm>
            <a:off x="731520" y="1371600"/>
            <a:ext cx="10515600" cy="5029200"/>
          </a:xfrm>
          <a:prstGeom prst="rect">
            <a:avLst/>
          </a:prstGeom>
          <a:noFill/>
        </p:spPr>
        <p:txBody>
          <a:bodyPr wrap="square">
            <a:spAutoFit/>
          </a:bodyPr>
          <a:lstStyle/>
          <a:p>
            <a:pPr>
              <a:spcBef>
                <a:spcPts val="600"/>
              </a:spcBef>
            </a:pPr>
            <a:r>
              <a:rPr sz="2200">
                <a:solidFill>
                  <a:srgbClr val="1A1A2E"/>
                </a:solidFill>
              </a:rPr>
              <a:t>「"いいもの"が、届いていない。それを変えたい。」</a:t>
            </a:r>
          </a:p>
          <a:p>
            <a:pPr>
              <a:spcBef>
                <a:spcPts val="600"/>
              </a:spcBef>
            </a:pPr>
            <a:r>
              <a:rPr sz="2200">
                <a:solidFill>
                  <a:srgbClr val="1A1A2E"/>
                </a:solidFill>
              </a:rPr>
              <a:t/>
            </a:r>
          </a:p>
          <a:p>
            <a:pPr>
              <a:spcBef>
                <a:spcPts val="600"/>
              </a:spcBef>
            </a:pPr>
            <a:r>
              <a:rPr sz="2200">
                <a:solidFill>
                  <a:srgbClr val="1A1A2E"/>
                </a:solidFill>
              </a:rPr>
              <a:t>・日本には、世界に通用する商品・サービスを持つ人がたくさんいる</a:t>
            </a:r>
          </a:p>
          <a:p>
            <a:pPr>
              <a:spcBef>
                <a:spcPts val="600"/>
              </a:spcBef>
            </a:pPr>
            <a:r>
              <a:rPr sz="2200">
                <a:solidFill>
                  <a:srgbClr val="1A1A2E"/>
                </a:solidFill>
              </a:rPr>
              <a:t>・"売れない"のは商品のせいじゃない。届け方の問題</a:t>
            </a:r>
          </a:p>
          <a:p>
            <a:pPr>
              <a:spcBef>
                <a:spcPts val="600"/>
              </a:spcBef>
            </a:pPr>
            <a:r>
              <a:rPr sz="2200">
                <a:solidFill>
                  <a:srgbClr val="1A1A2E"/>
                </a:solidFill>
              </a:rPr>
              <a:t>・私がやりたいのは、その「仕組みのなさ」を解決すること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2店舗目、ネットショップにしませんか？</a:t>
            </a:r>
          </a:p>
        </p:txBody>
      </p:sp>
      <p:sp>
        <p:nvSpPr>
          <p:cNvPr id="4" name="TextBox 3"/>
          <p:cNvSpPr txBox="1"/>
          <p:nvPr/>
        </p:nvSpPr>
        <p:spPr>
          <a:xfrm>
            <a:off x="731520" y="1188720"/>
            <a:ext cx="10515600" cy="457200"/>
          </a:xfrm>
          <a:prstGeom prst="rect">
            <a:avLst/>
          </a:prstGeom>
          <a:noFill/>
        </p:spPr>
        <p:txBody>
          <a:bodyPr wrap="square">
            <a:spAutoFit/>
          </a:bodyPr>
          <a:lstStyle/>
          <a:p>
            <a:pPr algn="l"/>
            <a:r>
              <a:rPr sz="2000" b="0" i="1">
                <a:solidFill>
                  <a:srgbClr val="555555"/>
                </a:solidFill>
              </a:rPr>
              <a:t>2店舗目、またはアップセルを考えているなら——</a:t>
            </a:r>
          </a:p>
        </p:txBody>
      </p:sp>
      <p:sp>
        <p:nvSpPr>
          <p:cNvPr id="5" name="Rectangle 4"/>
          <p:cNvSpPr/>
          <p:nvPr/>
        </p:nvSpPr>
        <p:spPr>
          <a:xfrm>
            <a:off x="731520" y="1737360"/>
            <a:ext cx="4114800" cy="4572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0" y="1737360"/>
            <a:ext cx="4114800" cy="4572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4114800" cy="457200"/>
          </a:xfrm>
          <a:prstGeom prst="rect">
            <a:avLst/>
          </a:prstGeom>
          <a:noFill/>
        </p:spPr>
        <p:txBody>
          <a:bodyPr wrap="square">
            <a:spAutoFit/>
          </a:bodyPr>
          <a:lstStyle/>
          <a:p>
            <a:pPr algn="ctr"/>
            <a:r>
              <a:rPr sz="1800" b="1" i="0">
                <a:solidFill>
                  <a:srgbClr val="1A1A2E"/>
                </a:solidFill>
              </a:rPr>
              <a:t>実店舗 2店舗目</a:t>
            </a:r>
          </a:p>
        </p:txBody>
      </p:sp>
      <p:sp>
        <p:nvSpPr>
          <p:cNvPr id="8" name="TextBox 7"/>
          <p:cNvSpPr txBox="1"/>
          <p:nvPr/>
        </p:nvSpPr>
        <p:spPr>
          <a:xfrm>
            <a:off x="6400800" y="1737360"/>
            <a:ext cx="4114800" cy="457200"/>
          </a:xfrm>
          <a:prstGeom prst="rect">
            <a:avLst/>
          </a:prstGeom>
          <a:noFill/>
        </p:spPr>
        <p:txBody>
          <a:bodyPr wrap="square">
            <a:spAutoFit/>
          </a:bodyPr>
          <a:lstStyle/>
          <a:p>
            <a:pPr algn="ctr"/>
            <a:r>
              <a:rPr sz="1800" b="1" i="0">
                <a:solidFill>
                  <a:srgbClr val="2E7D32"/>
                </a:solidFill>
              </a:rPr>
              <a:t>ネットショップ</a:t>
            </a:r>
          </a:p>
        </p:txBody>
      </p:sp>
      <p:sp>
        <p:nvSpPr>
          <p:cNvPr id="9" name="TextBox 8"/>
          <p:cNvSpPr txBox="1"/>
          <p:nvPr/>
        </p:nvSpPr>
        <p:spPr>
          <a:xfrm>
            <a:off x="731520" y="2331720"/>
            <a:ext cx="4114800" cy="548640"/>
          </a:xfrm>
          <a:prstGeom prst="rect">
            <a:avLst/>
          </a:prstGeom>
          <a:noFill/>
        </p:spPr>
        <p:txBody>
          <a:bodyPr wrap="square">
            <a:spAutoFit/>
          </a:bodyPr>
          <a:lstStyle/>
          <a:p>
            <a:pPr algn="l"/>
            <a:r>
              <a:rPr sz="2000" b="0" i="0">
                <a:solidFill>
                  <a:srgbClr val="555555"/>
                </a:solidFill>
              </a:rPr>
              <a:t>保証金＋内装で数百万〜</a:t>
            </a:r>
          </a:p>
        </p:txBody>
      </p:sp>
      <p:sp>
        <p:nvSpPr>
          <p:cNvPr id="10" name="TextBox 9"/>
          <p:cNvSpPr txBox="1"/>
          <p:nvPr/>
        </p:nvSpPr>
        <p:spPr>
          <a:xfrm>
            <a:off x="5029200" y="2331720"/>
            <a:ext cx="1097280" cy="548640"/>
          </a:xfrm>
          <a:prstGeom prst="rect">
            <a:avLst/>
          </a:prstGeom>
          <a:noFill/>
        </p:spPr>
        <p:txBody>
          <a:bodyPr wrap="square">
            <a:spAutoFit/>
          </a:bodyPr>
          <a:lstStyle/>
          <a:p>
            <a:pPr algn="ctr"/>
            <a:r>
              <a:rPr sz="2000" b="0" i="0">
                <a:solidFill>
                  <a:srgbClr val="1A73E8"/>
                </a:solidFill>
              </a:rPr>
              <a:t>→</a:t>
            </a:r>
          </a:p>
        </p:txBody>
      </p:sp>
      <p:sp>
        <p:nvSpPr>
          <p:cNvPr id="11" name="TextBox 10"/>
          <p:cNvSpPr txBox="1"/>
          <p:nvPr/>
        </p:nvSpPr>
        <p:spPr>
          <a:xfrm>
            <a:off x="6400800" y="2331720"/>
            <a:ext cx="4114800" cy="548640"/>
          </a:xfrm>
          <a:prstGeom prst="rect">
            <a:avLst/>
          </a:prstGeom>
          <a:noFill/>
        </p:spPr>
        <p:txBody>
          <a:bodyPr wrap="square">
            <a:spAutoFit/>
          </a:bodyPr>
          <a:lstStyle/>
          <a:p>
            <a:pPr algn="l"/>
            <a:r>
              <a:rPr sz="2000" b="1" i="0">
                <a:solidFill>
                  <a:srgbClr val="2E7D32"/>
                </a:solidFill>
              </a:rPr>
              <a:t>初期費用ほぼゼロ</a:t>
            </a:r>
          </a:p>
        </p:txBody>
      </p:sp>
      <p:sp>
        <p:nvSpPr>
          <p:cNvPr id="12" name="TextBox 11"/>
          <p:cNvSpPr txBox="1"/>
          <p:nvPr/>
        </p:nvSpPr>
        <p:spPr>
          <a:xfrm>
            <a:off x="731520" y="3017520"/>
            <a:ext cx="4114800" cy="548640"/>
          </a:xfrm>
          <a:prstGeom prst="rect">
            <a:avLst/>
          </a:prstGeom>
          <a:noFill/>
        </p:spPr>
        <p:txBody>
          <a:bodyPr wrap="square">
            <a:spAutoFit/>
          </a:bodyPr>
          <a:lstStyle/>
          <a:p>
            <a:pPr algn="l"/>
            <a:r>
              <a:rPr sz="2000" b="0" i="0">
                <a:solidFill>
                  <a:srgbClr val="555555"/>
                </a:solidFill>
              </a:rPr>
              <a:t>営業時間内だけ</a:t>
            </a:r>
          </a:p>
        </p:txBody>
      </p:sp>
      <p:sp>
        <p:nvSpPr>
          <p:cNvPr id="13" name="TextBox 12"/>
          <p:cNvSpPr txBox="1"/>
          <p:nvPr/>
        </p:nvSpPr>
        <p:spPr>
          <a:xfrm>
            <a:off x="5029200" y="3017520"/>
            <a:ext cx="1097280" cy="548640"/>
          </a:xfrm>
          <a:prstGeom prst="rect">
            <a:avLst/>
          </a:prstGeom>
          <a:noFill/>
        </p:spPr>
        <p:txBody>
          <a:bodyPr wrap="square">
            <a:spAutoFit/>
          </a:bodyPr>
          <a:lstStyle/>
          <a:p>
            <a:pPr algn="ctr"/>
            <a:r>
              <a:rPr sz="2000" b="0" i="0">
                <a:solidFill>
                  <a:srgbClr val="1A73E8"/>
                </a:solidFill>
              </a:rPr>
              <a:t>→</a:t>
            </a:r>
          </a:p>
        </p:txBody>
      </p:sp>
      <p:sp>
        <p:nvSpPr>
          <p:cNvPr id="14" name="TextBox 13"/>
          <p:cNvSpPr txBox="1"/>
          <p:nvPr/>
        </p:nvSpPr>
        <p:spPr>
          <a:xfrm>
            <a:off x="6400800" y="3017520"/>
            <a:ext cx="4114800" cy="548640"/>
          </a:xfrm>
          <a:prstGeom prst="rect">
            <a:avLst/>
          </a:prstGeom>
          <a:noFill/>
        </p:spPr>
        <p:txBody>
          <a:bodyPr wrap="square">
            <a:spAutoFit/>
          </a:bodyPr>
          <a:lstStyle/>
          <a:p>
            <a:pPr algn="l"/>
            <a:r>
              <a:rPr sz="2000" b="1" i="0">
                <a:solidFill>
                  <a:srgbClr val="2E7D32"/>
                </a:solidFill>
              </a:rPr>
              <a:t>24時間 365日</a:t>
            </a:r>
          </a:p>
        </p:txBody>
      </p:sp>
      <p:sp>
        <p:nvSpPr>
          <p:cNvPr id="15" name="TextBox 14"/>
          <p:cNvSpPr txBox="1"/>
          <p:nvPr/>
        </p:nvSpPr>
        <p:spPr>
          <a:xfrm>
            <a:off x="731520" y="3703320"/>
            <a:ext cx="4114800" cy="548640"/>
          </a:xfrm>
          <a:prstGeom prst="rect">
            <a:avLst/>
          </a:prstGeom>
          <a:noFill/>
        </p:spPr>
        <p:txBody>
          <a:bodyPr wrap="square">
            <a:spAutoFit/>
          </a:bodyPr>
          <a:lstStyle/>
          <a:p>
            <a:pPr algn="l"/>
            <a:r>
              <a:rPr sz="2000" b="0" i="0">
                <a:solidFill>
                  <a:srgbClr val="555555"/>
                </a:solidFill>
              </a:rPr>
              <a:t>出店エリアに限定</a:t>
            </a:r>
          </a:p>
        </p:txBody>
      </p:sp>
      <p:sp>
        <p:nvSpPr>
          <p:cNvPr id="16" name="TextBox 15"/>
          <p:cNvSpPr txBox="1"/>
          <p:nvPr/>
        </p:nvSpPr>
        <p:spPr>
          <a:xfrm>
            <a:off x="5029200" y="3703320"/>
            <a:ext cx="1097280" cy="548640"/>
          </a:xfrm>
          <a:prstGeom prst="rect">
            <a:avLst/>
          </a:prstGeom>
          <a:noFill/>
        </p:spPr>
        <p:txBody>
          <a:bodyPr wrap="square">
            <a:spAutoFit/>
          </a:bodyPr>
          <a:lstStyle/>
          <a:p>
            <a:pPr algn="ctr"/>
            <a:r>
              <a:rPr sz="2000" b="0" i="0">
                <a:solidFill>
                  <a:srgbClr val="1A73E8"/>
                </a:solidFill>
              </a:rPr>
              <a:t>→</a:t>
            </a:r>
          </a:p>
        </p:txBody>
      </p:sp>
      <p:sp>
        <p:nvSpPr>
          <p:cNvPr id="17" name="TextBox 16"/>
          <p:cNvSpPr txBox="1"/>
          <p:nvPr/>
        </p:nvSpPr>
        <p:spPr>
          <a:xfrm>
            <a:off x="6400800" y="3703320"/>
            <a:ext cx="4114800" cy="548640"/>
          </a:xfrm>
          <a:prstGeom prst="rect">
            <a:avLst/>
          </a:prstGeom>
          <a:noFill/>
        </p:spPr>
        <p:txBody>
          <a:bodyPr wrap="square">
            <a:spAutoFit/>
          </a:bodyPr>
          <a:lstStyle/>
          <a:p>
            <a:pPr algn="l"/>
            <a:r>
              <a:rPr sz="2000" b="1" i="0">
                <a:solidFill>
                  <a:srgbClr val="2E7D32"/>
                </a:solidFill>
              </a:rPr>
              <a:t>全世界に届く</a:t>
            </a:r>
          </a:p>
        </p:txBody>
      </p:sp>
      <p:sp>
        <p:nvSpPr>
          <p:cNvPr id="18" name="TextBox 17"/>
          <p:cNvSpPr txBox="1"/>
          <p:nvPr/>
        </p:nvSpPr>
        <p:spPr>
          <a:xfrm>
            <a:off x="731520" y="5760720"/>
            <a:ext cx="10515600" cy="731520"/>
          </a:xfrm>
          <a:prstGeom prst="rect">
            <a:avLst/>
          </a:prstGeom>
          <a:noFill/>
        </p:spPr>
        <p:txBody>
          <a:bodyPr wrap="square">
            <a:spAutoFit/>
          </a:bodyPr>
          <a:lstStyle/>
          <a:p>
            <a:pPr algn="l"/>
            <a:r>
              <a:rPr sz="1800" b="0" i="1">
                <a:solidFill>
                  <a:srgbClr val="555555"/>
                </a:solidFill>
              </a:rPr>
              <a:t>「他にもいろいろメリットはありますが、まずこの3つだけでも、検討する価値があると思います。」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731520"/>
          </a:xfrm>
          <a:prstGeom prst="rect">
            <a:avLst/>
          </a:prstGeom>
          <a:noFill/>
        </p:spPr>
        <p:txBody>
          <a:bodyPr wrap="square">
            <a:spAutoFit/>
          </a:bodyPr>
          <a:lstStyle/>
          <a:p>
            <a:pPr algn="l"/>
            <a:r>
              <a:rPr sz="2800" b="1" i="0">
                <a:solidFill>
                  <a:srgbClr val="FFFFFF"/>
                </a:solidFill>
              </a:rPr>
              <a:t>コンタクトサークル</a:t>
            </a:r>
          </a:p>
        </p:txBody>
      </p:sp>
      <p:sp>
        <p:nvSpPr>
          <p:cNvPr id="4" name="Rectangle 3"/>
          <p:cNvSpPr/>
          <p:nvPr/>
        </p:nvSpPr>
        <p:spPr>
          <a:xfrm>
            <a:off x="457200" y="1280160"/>
            <a:ext cx="11247120" cy="4114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1247120" cy="411480"/>
          </a:xfrm>
          <a:prstGeom prst="rect">
            <a:avLst/>
          </a:prstGeom>
          <a:noFill/>
        </p:spPr>
        <p:txBody>
          <a:bodyPr wrap="square">
            <a:spAutoFit/>
          </a:bodyPr>
          <a:lstStyle/>
          <a:p>
            <a:pPr algn="l"/>
            <a:r>
              <a:rPr sz="1800" b="1" i="0">
                <a:solidFill>
                  <a:srgbClr val="1A73E8"/>
                </a:solidFill>
              </a:rPr>
              <a:t>【紹介してほしいお客様】</a:t>
            </a:r>
          </a:p>
        </p:txBody>
      </p:sp>
      <p:sp>
        <p:nvSpPr>
          <p:cNvPr id="6" name="TextBox 5"/>
          <p:cNvSpPr txBox="1"/>
          <p:nvPr/>
        </p:nvSpPr>
        <p:spPr>
          <a:xfrm>
            <a:off x="731520" y="1737360"/>
            <a:ext cx="10515600" cy="457200"/>
          </a:xfrm>
          <a:prstGeom prst="rect">
            <a:avLst/>
          </a:prstGeom>
          <a:noFill/>
        </p:spPr>
        <p:txBody>
          <a:bodyPr wrap="square">
            <a:spAutoFit/>
          </a:bodyPr>
          <a:lstStyle/>
          <a:p>
            <a:pPr algn="l"/>
            <a:r>
              <a:rPr sz="2200" b="1" i="0">
                <a:solidFill>
                  <a:srgbClr val="1A1A2E"/>
                </a:solidFill>
              </a:rPr>
              <a:t>▶ 2店舗目・アップセルを検討中の経営者</a:t>
            </a:r>
          </a:p>
        </p:txBody>
      </p:sp>
      <p:sp>
        <p:nvSpPr>
          <p:cNvPr id="7" name="TextBox 6"/>
          <p:cNvSpPr txBox="1"/>
          <p:nvPr/>
        </p:nvSpPr>
        <p:spPr>
          <a:xfrm>
            <a:off x="1097280" y="2286000"/>
            <a:ext cx="10058400" cy="457200"/>
          </a:xfrm>
          <a:prstGeom prst="rect">
            <a:avLst/>
          </a:prstGeom>
          <a:noFill/>
        </p:spPr>
        <p:txBody>
          <a:bodyPr wrap="square">
            <a:spAutoFit/>
          </a:bodyPr>
          <a:lstStyle/>
          <a:p>
            <a:pPr algn="l"/>
            <a:r>
              <a:rPr sz="2000" b="0" i="0">
                <a:solidFill>
                  <a:srgbClr val="555555"/>
                </a:solidFill>
              </a:rPr>
              <a:t>・「売上は伸びているが、次のステップが見えない」</a:t>
            </a:r>
          </a:p>
        </p:txBody>
      </p:sp>
      <p:sp>
        <p:nvSpPr>
          <p:cNvPr id="8" name="TextBox 7"/>
          <p:cNvSpPr txBox="1"/>
          <p:nvPr/>
        </p:nvSpPr>
        <p:spPr>
          <a:xfrm>
            <a:off x="1097280" y="2788920"/>
            <a:ext cx="10058400" cy="457200"/>
          </a:xfrm>
          <a:prstGeom prst="rect">
            <a:avLst/>
          </a:prstGeom>
          <a:noFill/>
        </p:spPr>
        <p:txBody>
          <a:bodyPr wrap="square">
            <a:spAutoFit/>
          </a:bodyPr>
          <a:lstStyle/>
          <a:p>
            <a:pPr algn="l"/>
            <a:r>
              <a:rPr sz="2000" b="0" i="0">
                <a:solidFill>
                  <a:srgbClr val="555555"/>
                </a:solidFill>
              </a:rPr>
              <a:t>・「2店舗目を出したいが初期費用がネックで…」</a:t>
            </a:r>
          </a:p>
        </p:txBody>
      </p:sp>
      <p:sp>
        <p:nvSpPr>
          <p:cNvPr id="9" name="TextBox 8"/>
          <p:cNvSpPr txBox="1"/>
          <p:nvPr/>
        </p:nvSpPr>
        <p:spPr>
          <a:xfrm>
            <a:off x="1097280" y="3291840"/>
            <a:ext cx="10058400" cy="457200"/>
          </a:xfrm>
          <a:prstGeom prst="rect">
            <a:avLst/>
          </a:prstGeom>
          <a:noFill/>
        </p:spPr>
        <p:txBody>
          <a:bodyPr wrap="square">
            <a:spAutoFit/>
          </a:bodyPr>
          <a:lstStyle/>
          <a:p>
            <a:pPr algn="l"/>
            <a:r>
              <a:rPr sz="2000" b="0" i="0">
                <a:solidFill>
                  <a:srgbClr val="555555"/>
                </a:solidFill>
              </a:rPr>
              <a:t>・「既存客にもっと買ってもらう方法を探している」</a:t>
            </a:r>
          </a:p>
        </p:txBody>
      </p:sp>
      <p:sp>
        <p:nvSpPr>
          <p:cNvPr id="10" name="Rectangle 9"/>
          <p:cNvSpPr/>
          <p:nvPr/>
        </p:nvSpPr>
        <p:spPr>
          <a:xfrm>
            <a:off x="457200" y="3931920"/>
            <a:ext cx="11247120" cy="4114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931920"/>
            <a:ext cx="11247120" cy="411480"/>
          </a:xfrm>
          <a:prstGeom prst="rect">
            <a:avLst/>
          </a:prstGeom>
          <a:noFill/>
        </p:spPr>
        <p:txBody>
          <a:bodyPr wrap="square">
            <a:spAutoFit/>
          </a:bodyPr>
          <a:lstStyle/>
          <a:p>
            <a:pPr algn="l"/>
            <a:r>
              <a:rPr sz="1800" b="1" i="0">
                <a:solidFill>
                  <a:srgbClr val="E65C00"/>
                </a:solidFill>
              </a:rPr>
              <a:t>【今日つながりたい方】</a:t>
            </a:r>
          </a:p>
        </p:txBody>
      </p:sp>
      <p:sp>
        <p:nvSpPr>
          <p:cNvPr id="12" name="TextBox 11"/>
          <p:cNvSpPr txBox="1"/>
          <p:nvPr/>
        </p:nvSpPr>
        <p:spPr>
          <a:xfrm>
            <a:off x="1097280" y="4480560"/>
            <a:ext cx="10058400" cy="457200"/>
          </a:xfrm>
          <a:prstGeom prst="rect">
            <a:avLst/>
          </a:prstGeom>
          <a:noFill/>
        </p:spPr>
        <p:txBody>
          <a:bodyPr wrap="square">
            <a:spAutoFit/>
          </a:bodyPr>
          <a:lstStyle/>
          <a:p>
            <a:pPr algn="l"/>
            <a:r>
              <a:rPr sz="2000" b="0" i="0">
                <a:solidFill>
                  <a:srgbClr val="1A1A2E"/>
                </a:solidFill>
              </a:rPr>
              <a:t>▶ 印刷・プリントのお仕事をされている方（宮原さん）</a:t>
            </a:r>
          </a:p>
        </p:txBody>
      </p:sp>
      <p:sp>
        <p:nvSpPr>
          <p:cNvPr id="13" name="TextBox 12"/>
          <p:cNvSpPr txBox="1"/>
          <p:nvPr/>
        </p:nvSpPr>
        <p:spPr>
          <a:xfrm>
            <a:off x="1097280" y="4983480"/>
            <a:ext cx="10058400" cy="457200"/>
          </a:xfrm>
          <a:prstGeom prst="rect">
            <a:avLst/>
          </a:prstGeom>
          <a:noFill/>
        </p:spPr>
        <p:txBody>
          <a:bodyPr wrap="square">
            <a:spAutoFit/>
          </a:bodyPr>
          <a:lstStyle/>
          <a:p>
            <a:pPr algn="l"/>
            <a:r>
              <a:rPr sz="2000" b="0" i="0">
                <a:solidFill>
                  <a:srgbClr val="1A1A2E"/>
                </a:solidFill>
              </a:rPr>
              <a:t>▶ グラフィックデザイナー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058400" cy="1371600"/>
          </a:xfrm>
          <a:prstGeom prst="rect">
            <a:avLst/>
          </a:prstGeom>
          <a:noFill/>
        </p:spPr>
        <p:txBody>
          <a:bodyPr wrap="square">
            <a:spAutoFit/>
          </a:bodyPr>
          <a:lstStyle/>
          <a:p>
            <a:pPr algn="ctr"/>
            <a:r>
              <a:rPr sz="4400" b="1" i="0">
                <a:solidFill>
                  <a:srgbClr val="1A1A2E"/>
                </a:solidFill>
              </a:rPr>
              <a:t>デモ</a:t>
            </a:r>
          </a:p>
        </p:txBody>
      </p:sp>
      <p:sp>
        <p:nvSpPr>
          <p:cNvPr id="4" name="TextBox 3"/>
          <p:cNvSpPr txBox="1"/>
          <p:nvPr/>
        </p:nvSpPr>
        <p:spPr>
          <a:xfrm>
            <a:off x="914400" y="4023360"/>
            <a:ext cx="10058400" cy="731520"/>
          </a:xfrm>
          <a:prstGeom prst="rect">
            <a:avLst/>
          </a:prstGeom>
          <a:noFill/>
        </p:spPr>
        <p:txBody>
          <a:bodyPr wrap="square">
            <a:spAutoFit/>
          </a:bodyPr>
          <a:lstStyle/>
          <a:p>
            <a:pPr algn="ctr"/>
            <a:r>
              <a:rPr sz="2200" b="0" i="0">
                <a:solidFill>
                  <a:srgbClr val="555555"/>
                </a:solidFill>
              </a:rPr>
              <a:t>（別サイトを画面共有して見せる）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371600"/>
            <a:ext cx="10515600" cy="1097280"/>
          </a:xfrm>
          <a:prstGeom prst="rect">
            <a:avLst/>
          </a:prstGeom>
          <a:noFill/>
        </p:spPr>
        <p:txBody>
          <a:bodyPr wrap="square">
            <a:spAutoFit/>
          </a:bodyPr>
          <a:lstStyle/>
          <a:p>
            <a:pPr algn="ctr"/>
            <a:r>
              <a:rPr sz="3400" b="1" i="0">
                <a:solidFill>
                  <a:srgbClr val="FFFFFF"/>
                </a:solidFill>
              </a:rPr>
              <a:t>詳しくは、1to1でお話しさせてください</a:t>
            </a:r>
          </a:p>
        </p:txBody>
      </p:sp>
      <p:sp>
        <p:nvSpPr>
          <p:cNvPr id="3" name="TextBox 2"/>
          <p:cNvSpPr txBox="1"/>
          <p:nvPr/>
        </p:nvSpPr>
        <p:spPr>
          <a:xfrm>
            <a:off x="2286000" y="2743200"/>
            <a:ext cx="7772400" cy="1828800"/>
          </a:xfrm>
          <a:prstGeom prst="rect">
            <a:avLst/>
          </a:prstGeom>
          <a:noFill/>
        </p:spPr>
        <p:txBody>
          <a:bodyPr wrap="square">
            <a:spAutoFit/>
          </a:bodyPr>
          <a:lstStyle/>
          <a:p>
            <a:pPr algn="l"/>
            <a:r>
              <a:rPr sz="2200" b="0" i="0">
                <a:solidFill>
                  <a:srgbClr val="CCDDFF"/>
                </a:solidFill>
              </a:rPr>
              <a:t>・2店舗目の前に、ECという選択肢を考えたい方
・アップセルをオンラインで展開したい方
・まずは話を聞いてみたい方、大歓迎です</a:t>
            </a:r>
          </a:p>
        </p:txBody>
      </p:sp>
      <p:sp>
        <p:nvSpPr>
          <p:cNvPr id="4" name="TextBox 3"/>
          <p:cNvSpPr txBox="1"/>
          <p:nvPr/>
        </p:nvSpPr>
        <p:spPr>
          <a:xfrm>
            <a:off x="731520" y="5029200"/>
            <a:ext cx="10515600" cy="731520"/>
          </a:xfrm>
          <a:prstGeom prst="rect">
            <a:avLst/>
          </a:prstGeom>
          <a:noFill/>
        </p:spPr>
        <p:txBody>
          <a:bodyPr wrap="square">
            <a:spAutoFit/>
          </a:bodyPr>
          <a:lstStyle/>
          <a:p>
            <a:pPr algn="ctr"/>
            <a:r>
              <a:rPr sz="2600" b="1" i="0">
                <a:solidFill>
                  <a:srgbClr val="7BC8FF"/>
                </a:solidFill>
              </a:rPr>
              <a:t>よろしくお願いいたします！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